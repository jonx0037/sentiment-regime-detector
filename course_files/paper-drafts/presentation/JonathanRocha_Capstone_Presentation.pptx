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tiff" ContentType="image/tif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  <p:ext uri="http://customooxmlschemas.google.com/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37" roundtripDataSignature="AMtx7mhTpf6Nk2CLw3kTd/Uc4umiVxtqR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71717"/>
    <a:srgbClr val="FFFFFF"/>
    <a:srgbClr val="000000"/>
    <a:srgbClr val="18181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371" autoAdjust="0"/>
    <p:restoredTop sz="77283" autoAdjust="0"/>
  </p:normalViewPr>
  <p:slideViewPr>
    <p:cSldViewPr snapToGrid="0">
      <p:cViewPr varScale="1">
        <p:scale>
          <a:sx n="121" d="100"/>
          <a:sy n="121" d="100"/>
        </p:scale>
        <p:origin x="848" y="168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sorterViewPr>
    <p:cViewPr>
      <p:scale>
        <a:sx n="79" d="100"/>
        <a:sy n="79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9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38" Type="http://schemas.openxmlformats.org/officeDocument/2006/relationships/presProps" Target="presProps.xml"/><Relationship Id="rId2" Type="http://schemas.openxmlformats.org/officeDocument/2006/relationships/slide" Target="slides/slide1.xml"/><Relationship Id="rId41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37" Type="http://customschemas.google.com/relationships/presentationmetadata" Target="metadata"/><Relationship Id="rId40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Content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1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>
                <a:solidFill>
                  <a:srgbClr val="FFFFFF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11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bg1"/>
              </a:buClr>
              <a:buSzPts val="1800"/>
              <a:buChar char="•"/>
              <a:defRPr>
                <a:solidFill>
                  <a:srgbClr val="FFFFFF"/>
                </a:solidFill>
              </a:defRPr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 dirty="0"/>
          </a:p>
        </p:txBody>
      </p:sp>
      <p:sp>
        <p:nvSpPr>
          <p:cNvPr id="29" name="Google Shape;29;p1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FFFFFF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lang="en-US"/>
          </a:p>
        </p:txBody>
      </p:sp>
      <p:sp>
        <p:nvSpPr>
          <p:cNvPr id="7" name="Google Shape;24;p9">
            <a:extLst>
              <a:ext uri="{FF2B5EF4-FFF2-40B4-BE49-F238E27FC236}">
                <a16:creationId xmlns:a16="http://schemas.microsoft.com/office/drawing/2014/main" id="{76B7A124-C38E-4F21-B71C-7D6058F09F1B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9142927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>
                <a:solidFill>
                  <a:srgbClr val="FFFFFF"/>
                </a:solidFill>
              </a:defRPr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13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>
                <a:solidFill>
                  <a:srgbClr val="FFFFFF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13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>
                <a:solidFill>
                  <a:srgbClr val="FFFFFF"/>
                </a:solidFill>
              </a:defRPr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0" name="Google Shape;40;p13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>
                <a:solidFill>
                  <a:srgbClr val="FFFFFF"/>
                </a:solidFill>
              </a:defRPr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2" name="Google Shape;42;p1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FFFFFF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lang="en-US"/>
          </a:p>
        </p:txBody>
      </p:sp>
      <p:sp>
        <p:nvSpPr>
          <p:cNvPr id="8" name="Google Shape;24;p9">
            <a:extLst>
              <a:ext uri="{FF2B5EF4-FFF2-40B4-BE49-F238E27FC236}">
                <a16:creationId xmlns:a16="http://schemas.microsoft.com/office/drawing/2014/main" id="{17A7B529-A72E-4047-92AE-88091992F329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9142927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>
                <a:solidFill>
                  <a:srgbClr val="FFFFFF"/>
                </a:solidFill>
              </a:defRPr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4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>
                <a:solidFill>
                  <a:srgbClr val="FFFFFF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6" name="Google Shape;46;p14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>
                <a:solidFill>
                  <a:srgbClr val="FFFFFF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7" name="Google Shape;47;p14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>
                <a:solidFill>
                  <a:srgbClr val="FFFFFF"/>
                </a:solidFill>
              </a:defRPr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8" name="Google Shape;48;p14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>
                <a:solidFill>
                  <a:srgbClr val="FFFFFF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9" name="Google Shape;49;p14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>
                <a:solidFill>
                  <a:srgbClr val="FFFFFF"/>
                </a:solidFill>
              </a:defRPr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1" name="Google Shape;51;p1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FFFFFF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lang="en-US"/>
          </a:p>
        </p:txBody>
      </p:sp>
      <p:sp>
        <p:nvSpPr>
          <p:cNvPr id="10" name="Google Shape;24;p9">
            <a:extLst>
              <a:ext uri="{FF2B5EF4-FFF2-40B4-BE49-F238E27FC236}">
                <a16:creationId xmlns:a16="http://schemas.microsoft.com/office/drawing/2014/main" id="{08CF2290-DF5A-4748-94C0-7B2E23AD0D9F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9142927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>
                <a:solidFill>
                  <a:srgbClr val="FFFFFF"/>
                </a:solidFill>
              </a:defRPr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5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>
                <a:solidFill>
                  <a:srgbClr val="FFFFFF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1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FFFFFF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lang="en-US"/>
          </a:p>
        </p:txBody>
      </p:sp>
      <p:sp>
        <p:nvSpPr>
          <p:cNvPr id="6" name="Google Shape;24;p9">
            <a:extLst>
              <a:ext uri="{FF2B5EF4-FFF2-40B4-BE49-F238E27FC236}">
                <a16:creationId xmlns:a16="http://schemas.microsoft.com/office/drawing/2014/main" id="{87B87EFC-ECA6-4046-8E5D-7AE18AD0B1ED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9142927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>
                <a:solidFill>
                  <a:srgbClr val="FFFFFF"/>
                </a:solidFill>
              </a:defRPr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6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>
                <a:solidFill>
                  <a:srgbClr val="FFFFFF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16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>
                <a:solidFill>
                  <a:srgbClr val="FFFFFF"/>
                </a:solidFill>
              </a:defRPr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61" name="Google Shape;61;p16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>
                <a:solidFill>
                  <a:srgbClr val="FFFFFF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3" name="Google Shape;63;p1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FFFFFF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lang="en-US"/>
          </a:p>
        </p:txBody>
      </p:sp>
      <p:sp>
        <p:nvSpPr>
          <p:cNvPr id="8" name="Google Shape;24;p9">
            <a:extLst>
              <a:ext uri="{FF2B5EF4-FFF2-40B4-BE49-F238E27FC236}">
                <a16:creationId xmlns:a16="http://schemas.microsoft.com/office/drawing/2014/main" id="{0AAFC87F-7680-45BD-81E6-9C670AA6622C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9142927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>
                <a:solidFill>
                  <a:srgbClr val="FFFFFF"/>
                </a:solidFill>
              </a:defRPr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7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>
                <a:solidFill>
                  <a:srgbClr val="FFFFFF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7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  <a:defRPr sz="32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68" name="Google Shape;68;p17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>
                <a:solidFill>
                  <a:srgbClr val="FFFFFF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70" name="Google Shape;70;p1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FFFFFF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lang="en-US"/>
          </a:p>
        </p:txBody>
      </p:sp>
      <p:sp>
        <p:nvSpPr>
          <p:cNvPr id="8" name="Google Shape;24;p9">
            <a:extLst>
              <a:ext uri="{FF2B5EF4-FFF2-40B4-BE49-F238E27FC236}">
                <a16:creationId xmlns:a16="http://schemas.microsoft.com/office/drawing/2014/main" id="{7B342469-A1E4-47C0-9011-F5444E2A9B65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9142927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>
                <a:solidFill>
                  <a:srgbClr val="FFFFFF"/>
                </a:solidFill>
              </a:defRPr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8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>
                <a:solidFill>
                  <a:srgbClr val="FFFFFF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4" name="Google Shape;74;p18"/>
          <p:cNvSpPr txBox="1">
            <a:spLocks noGrp="1"/>
          </p:cNvSpPr>
          <p:nvPr>
            <p:ph type="body" idx="1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>
                <a:solidFill>
                  <a:srgbClr val="FFFFFF"/>
                </a:solidFill>
              </a:defRPr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6" name="Google Shape;76;p1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FFFFFF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lang="en-US"/>
          </a:p>
        </p:txBody>
      </p:sp>
      <p:sp>
        <p:nvSpPr>
          <p:cNvPr id="7" name="Google Shape;24;p9">
            <a:extLst>
              <a:ext uri="{FF2B5EF4-FFF2-40B4-BE49-F238E27FC236}">
                <a16:creationId xmlns:a16="http://schemas.microsoft.com/office/drawing/2014/main" id="{52CA6D3E-FC0A-4471-BAD5-32E8336CCE42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9142927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>
                <a:solidFill>
                  <a:srgbClr val="FFFFFF"/>
                </a:solidFill>
              </a:defRPr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9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>
                <a:solidFill>
                  <a:srgbClr val="FFFFFF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0" name="Google Shape;80;p19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>
                <a:solidFill>
                  <a:srgbClr val="FFFFFF"/>
                </a:solidFill>
              </a:defRPr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2" name="Google Shape;82;p1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FFFFFF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lang="en-US"/>
          </a:p>
        </p:txBody>
      </p:sp>
      <p:sp>
        <p:nvSpPr>
          <p:cNvPr id="7" name="Google Shape;24;p9">
            <a:extLst>
              <a:ext uri="{FF2B5EF4-FFF2-40B4-BE49-F238E27FC236}">
                <a16:creationId xmlns:a16="http://schemas.microsoft.com/office/drawing/2014/main" id="{13530456-77E5-4171-8D5F-CA422608690A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9142927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>
                <a:solidFill>
                  <a:srgbClr val="FFFFFF"/>
                </a:solidFill>
              </a:defRPr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preserve="1" userDrawn="1">
  <p:cSld name="White"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Google Shape;29;p11">
            <a:extLst>
              <a:ext uri="{FF2B5EF4-FFF2-40B4-BE49-F238E27FC236}">
                <a16:creationId xmlns:a16="http://schemas.microsoft.com/office/drawing/2014/main" id="{40768A1A-FC51-4338-A587-C561DF25E6B8}"/>
              </a:ext>
            </a:extLst>
          </p:cNvPr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FFFFFF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lang="en-US"/>
          </a:p>
        </p:txBody>
      </p:sp>
      <p:sp>
        <p:nvSpPr>
          <p:cNvPr id="9" name="Google Shape;24;p9">
            <a:extLst>
              <a:ext uri="{FF2B5EF4-FFF2-40B4-BE49-F238E27FC236}">
                <a16:creationId xmlns:a16="http://schemas.microsoft.com/office/drawing/2014/main" id="{DCA07580-117A-46DD-A105-84E59F2552B1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9142927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>
                <a:solidFill>
                  <a:srgbClr val="FFFFFF"/>
                </a:solidFill>
              </a:defRPr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0" name="Google Shape;91;p10">
            <a:extLst>
              <a:ext uri="{FF2B5EF4-FFF2-40B4-BE49-F238E27FC236}">
                <a16:creationId xmlns:a16="http://schemas.microsoft.com/office/drawing/2014/main" id="{B9278628-99CC-4B7A-810A-14D94D0FC6E5}"/>
              </a:ext>
            </a:extLst>
          </p:cNvPr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Calibri"/>
              <a:buNone/>
              <a:defRPr sz="6000">
                <a:solidFill>
                  <a:schemeClr val="bg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" name="Google Shape;92;p10">
            <a:extLst>
              <a:ext uri="{FF2B5EF4-FFF2-40B4-BE49-F238E27FC236}">
                <a16:creationId xmlns:a16="http://schemas.microsoft.com/office/drawing/2014/main" id="{3D85D5FC-389A-440C-AE73-94C5024D90AB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bg1"/>
                </a:solidFill>
              </a:defRPr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22713009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 preserve="1">
  <p:cSld name="Title Slide - Light">
    <p:bg>
      <p:bgPr>
        <a:solidFill>
          <a:schemeClr val="bg1"/>
        </a:solidFill>
        <a:effectLst/>
      </p:bgPr>
    </p:bg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0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Calibri"/>
              <a:buNone/>
              <a:defRPr sz="6000">
                <a:solidFill>
                  <a:srgbClr val="171717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2" name="Google Shape;92;p10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rgbClr val="171717"/>
                </a:solidFill>
              </a:defRPr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94" name="Google Shape;94;p1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171717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lang="en-US"/>
          </a:p>
        </p:txBody>
      </p:sp>
      <p:sp>
        <p:nvSpPr>
          <p:cNvPr id="7" name="Google Shape;24;p9">
            <a:extLst>
              <a:ext uri="{FF2B5EF4-FFF2-40B4-BE49-F238E27FC236}">
                <a16:creationId xmlns:a16="http://schemas.microsoft.com/office/drawing/2014/main" id="{B535E713-67FE-4B8C-8C16-42083C623F6F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9142927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>
                <a:solidFill>
                  <a:schemeClr val="tx1"/>
                </a:solidFill>
              </a:defRPr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800338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image" Target="../media/image1.tiff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6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1" name="Google Shape;11;p6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Footer Placeholder 4">
            <a:extLst>
              <a:ext uri="{FF2B5EF4-FFF2-40B4-BE49-F238E27FC236}">
                <a16:creationId xmlns:a16="http://schemas.microsoft.com/office/drawing/2014/main" id="{9D253B6B-7766-4C8C-A98E-57F20FA67BD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552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5932FB11-95F2-4082-BDD6-1A3EE0B4BA73}"/>
              </a:ext>
            </a:extLst>
          </p:cNvPr>
          <p:cNvSpPr txBox="1">
            <a:spLocks/>
          </p:cNvSpPr>
          <p:nvPr userDrawn="1"/>
        </p:nvSpPr>
        <p:spPr>
          <a:xfrm>
            <a:off x="750833" y="6356350"/>
            <a:ext cx="2057400" cy="488950"/>
          </a:xfrm>
          <a:prstGeom prst="rect">
            <a:avLst/>
          </a:prstGeom>
        </p:spPr>
        <p:txBody>
          <a:bodyPr>
            <a:normAutofit/>
          </a:bodyPr>
          <a:lstStyle>
            <a:lvl1pPr algn="ctr" defTabSz="2641600" rtl="0" eaLnBrk="0" fontAlgn="base" hangingPunct="0">
              <a:spcBef>
                <a:spcPct val="0"/>
              </a:spcBef>
              <a:spcAft>
                <a:spcPct val="0"/>
              </a:spcAft>
              <a:defRPr sz="6000">
                <a:solidFill>
                  <a:schemeClr val="tx2"/>
                </a:solidFill>
                <a:latin typeface="+mj-lt"/>
                <a:ea typeface="ＭＳ Ｐゴシック" charset="-128"/>
                <a:cs typeface="+mj-cs"/>
              </a:defRPr>
            </a:lvl1pPr>
            <a:lvl2pPr algn="ctr" defTabSz="2641600" rtl="0" eaLnBrk="0" fontAlgn="base" hangingPunct="0">
              <a:spcBef>
                <a:spcPct val="0"/>
              </a:spcBef>
              <a:spcAft>
                <a:spcPct val="0"/>
              </a:spcAft>
              <a:defRPr sz="6000">
                <a:solidFill>
                  <a:schemeClr val="tx2"/>
                </a:solidFill>
                <a:latin typeface="Arial" pitchFamily="-65" charset="0"/>
                <a:ea typeface="ＭＳ Ｐゴシック" charset="-128"/>
              </a:defRPr>
            </a:lvl2pPr>
            <a:lvl3pPr algn="ctr" defTabSz="2641600" rtl="0" eaLnBrk="0" fontAlgn="base" hangingPunct="0">
              <a:spcBef>
                <a:spcPct val="0"/>
              </a:spcBef>
              <a:spcAft>
                <a:spcPct val="0"/>
              </a:spcAft>
              <a:defRPr sz="6000">
                <a:solidFill>
                  <a:schemeClr val="tx2"/>
                </a:solidFill>
                <a:latin typeface="Arial" pitchFamily="-65" charset="0"/>
                <a:ea typeface="ＭＳ Ｐゴシック" charset="-128"/>
              </a:defRPr>
            </a:lvl3pPr>
            <a:lvl4pPr algn="ctr" defTabSz="2641600" rtl="0" eaLnBrk="0" fontAlgn="base" hangingPunct="0">
              <a:spcBef>
                <a:spcPct val="0"/>
              </a:spcBef>
              <a:spcAft>
                <a:spcPct val="0"/>
              </a:spcAft>
              <a:defRPr sz="6000">
                <a:solidFill>
                  <a:schemeClr val="tx2"/>
                </a:solidFill>
                <a:latin typeface="Arial" pitchFamily="-65" charset="0"/>
                <a:ea typeface="ＭＳ Ｐゴシック" charset="-128"/>
              </a:defRPr>
            </a:lvl4pPr>
            <a:lvl5pPr algn="ctr" defTabSz="2641600" rtl="0" eaLnBrk="0" fontAlgn="base" hangingPunct="0">
              <a:spcBef>
                <a:spcPct val="0"/>
              </a:spcBef>
              <a:spcAft>
                <a:spcPct val="0"/>
              </a:spcAft>
              <a:defRPr sz="6000">
                <a:solidFill>
                  <a:schemeClr val="tx2"/>
                </a:solidFill>
                <a:latin typeface="Arial" pitchFamily="-65" charset="0"/>
                <a:ea typeface="ＭＳ Ｐゴシック" charset="-128"/>
              </a:defRPr>
            </a:lvl5pPr>
            <a:lvl6pPr marL="457200" algn="ctr" defTabSz="2641600" rtl="0" fontAlgn="base">
              <a:spcBef>
                <a:spcPct val="0"/>
              </a:spcBef>
              <a:spcAft>
                <a:spcPct val="0"/>
              </a:spcAft>
              <a:defRPr sz="6000">
                <a:solidFill>
                  <a:schemeClr val="tx2"/>
                </a:solidFill>
                <a:latin typeface="Arial" pitchFamily="-65" charset="0"/>
              </a:defRPr>
            </a:lvl6pPr>
            <a:lvl7pPr marL="914400" algn="ctr" defTabSz="2641600" rtl="0" fontAlgn="base">
              <a:spcBef>
                <a:spcPct val="0"/>
              </a:spcBef>
              <a:spcAft>
                <a:spcPct val="0"/>
              </a:spcAft>
              <a:defRPr sz="6000">
                <a:solidFill>
                  <a:schemeClr val="tx2"/>
                </a:solidFill>
                <a:latin typeface="Arial" pitchFamily="-65" charset="0"/>
              </a:defRPr>
            </a:lvl7pPr>
            <a:lvl8pPr marL="1371600" algn="ctr" defTabSz="2641600" rtl="0" fontAlgn="base">
              <a:spcBef>
                <a:spcPct val="0"/>
              </a:spcBef>
              <a:spcAft>
                <a:spcPct val="0"/>
              </a:spcAft>
              <a:defRPr sz="6000">
                <a:solidFill>
                  <a:schemeClr val="tx2"/>
                </a:solidFill>
                <a:latin typeface="Arial" pitchFamily="-65" charset="0"/>
              </a:defRPr>
            </a:lvl8pPr>
            <a:lvl9pPr marL="1828800" algn="ctr" defTabSz="2641600" rtl="0" fontAlgn="base">
              <a:spcBef>
                <a:spcPct val="0"/>
              </a:spcBef>
              <a:spcAft>
                <a:spcPct val="0"/>
              </a:spcAft>
              <a:defRPr sz="6000">
                <a:solidFill>
                  <a:schemeClr val="tx2"/>
                </a:solidFill>
                <a:latin typeface="Arial" pitchFamily="-65" charset="0"/>
              </a:defRPr>
            </a:lvl9pPr>
          </a:lstStyle>
          <a:p>
            <a:pPr algn="l">
              <a:defRPr/>
            </a:pPr>
            <a:r>
              <a:rPr lang="en-US" sz="1600" b="1" kern="0" dirty="0" err="1">
                <a:solidFill>
                  <a:srgbClr val="0257A1"/>
                </a:solidFill>
              </a:rPr>
              <a:t>DataScience</a:t>
            </a:r>
            <a:r>
              <a:rPr lang="en-US" sz="1600" b="1" kern="0" dirty="0" err="1">
                <a:solidFill>
                  <a:srgbClr val="C00000"/>
                </a:solidFill>
              </a:rPr>
              <a:t>@</a:t>
            </a:r>
            <a:r>
              <a:rPr lang="en-US" sz="1600" b="1" kern="0" dirty="0" err="1">
                <a:solidFill>
                  <a:srgbClr val="0257A1"/>
                </a:solidFill>
              </a:rPr>
              <a:t>SMU</a:t>
            </a:r>
            <a:endParaRPr lang="en-US" sz="1600" b="1" kern="0" dirty="0">
              <a:solidFill>
                <a:srgbClr val="0257A1"/>
              </a:solidFill>
            </a:endParaRP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370945E8-8B0F-4F15-B59E-7A9FAA49E62A}"/>
              </a:ext>
            </a:extLst>
          </p:cNvPr>
          <p:cNvPicPr>
            <a:picLocks noChangeAspect="1"/>
          </p:cNvPicPr>
          <p:nvPr userDrawn="1"/>
        </p:nvPicPr>
        <p:blipFill>
          <a:blip r:embed="rId12" cstate="print">
            <a:clrChange>
              <a:clrFrom>
                <a:srgbClr val="000000">
                  <a:alpha val="0"/>
                </a:srgbClr>
              </a:clrFrom>
              <a:clrTo>
                <a:srgbClr val="000000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855543" y="6295132"/>
            <a:ext cx="939114" cy="487561"/>
          </a:xfrm>
          <a:prstGeom prst="rect">
            <a:avLst/>
          </a:prstGeom>
        </p:spPr>
      </p:pic>
      <p:sp>
        <p:nvSpPr>
          <p:cNvPr id="13" name="Google Shape;24;p9">
            <a:extLst>
              <a:ext uri="{FF2B5EF4-FFF2-40B4-BE49-F238E27FC236}">
                <a16:creationId xmlns:a16="http://schemas.microsoft.com/office/drawing/2014/main" id="{AF4AFFF8-E306-468D-9A92-DC85BB75E125}"/>
              </a:ext>
            </a:extLst>
          </p:cNvPr>
          <p:cNvSpPr txBox="1">
            <a:spLocks noGrp="1"/>
          </p:cNvSpPr>
          <p:nvPr>
            <p:ph type="sldNum" idx="4"/>
          </p:nvPr>
        </p:nvSpPr>
        <p:spPr>
          <a:xfrm>
            <a:off x="9142927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>
                <a:solidFill>
                  <a:srgbClr val="FFFFFF"/>
                </a:solidFill>
              </a:defRPr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1" r:id="rId1"/>
    <p:sldLayoutId id="2147483653" r:id="rId2"/>
    <p:sldLayoutId id="2147483654" r:id="rId3"/>
    <p:sldLayoutId id="2147483655" r:id="rId4"/>
    <p:sldLayoutId id="2147483656" r:id="rId5"/>
    <p:sldLayoutId id="2147483657" r:id="rId6"/>
    <p:sldLayoutId id="2147483658" r:id="rId7"/>
    <p:sldLayoutId id="2147483659" r:id="rId8"/>
    <p:sldLayoutId id="2147483662" r:id="rId9"/>
    <p:sldLayoutId id="2147483663" r:id="rId10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FFFFFF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FFFFFF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ctr"/>
            <a:r>
              <a:rPr sz="3600" b="1">
                <a:solidFill>
                  <a:srgbClr val="0257A1"/>
                </a:solidFill>
              </a:rPr>
              <a:t>Cross-Asset Sentiment</a:t>
            </a:r>
          </a:p>
          <a:p>
            <a:pPr algn="ctr"/>
            <a:r>
              <a:rPr sz="3600" b="1">
                <a:solidFill>
                  <a:srgbClr val="0257A1"/>
                </a:solidFill>
              </a:rPr>
              <a:t>Regime Detector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algn="ctr"/>
            <a:r>
              <a:rPr sz="1800">
                <a:solidFill>
                  <a:srgbClr val="44546A"/>
                </a:solidFill>
              </a:rPr>
              <a:t>Automating Market Psychology Analysis Through Multi-Source NLP</a:t>
            </a:r>
          </a:p>
          <a:p>
            <a:pPr algn="ctr">
              <a:spcBef>
                <a:spcPts val="2000"/>
              </a:spcBef>
            </a:pPr>
            <a:r>
              <a:rPr sz="1600" b="1">
                <a:solidFill>
                  <a:srgbClr val="C00000"/>
                </a:solidFill>
              </a:rPr>
              <a:t>Jonathan Rocha</a:t>
            </a:r>
          </a:p>
          <a:p>
            <a:pPr algn="ctr"/>
            <a:r>
              <a:rPr sz="1200">
                <a:solidFill>
                  <a:srgbClr val="666666"/>
                </a:solidFill>
              </a:rPr>
              <a:t>SMU Master of Science in Data Science  |  Capstone Project  |  Spring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rgbClr val="FFFFFF"/>
                </a:solidFill>
              </a:rPr>
              <a:t>Problem &amp; Motivation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sz="1800" b="1">
                <a:solidFill>
                  <a:srgbClr val="0257A1"/>
                </a:solidFill>
              </a:rPr>
              <a:t>The Challenge</a:t>
            </a:r>
          </a:p>
          <a:p>
            <a:pPr>
              <a:spcAft>
                <a:spcPts val="400"/>
              </a:spcAft>
            </a:pPr>
            <a:r>
              <a:rPr sz="1400" b="0">
                <a:solidFill>
                  <a:srgbClr val="FFFFFF"/>
                </a:solidFill>
              </a:rPr>
              <a:t>Financial markets generate massive unstructured text daily — news, social media, analyst reports</a:t>
            </a:r>
          </a:p>
          <a:p>
            <a:pPr>
              <a:spcAft>
                <a:spcPts val="400"/>
              </a:spcAft>
            </a:pPr>
            <a:r>
              <a:rPr sz="1400" b="0">
                <a:solidFill>
                  <a:srgbClr val="FFFFFF"/>
                </a:solidFill>
              </a:rPr>
              <a:t>Sentiment shifts across asset classes often precede regime transitions</a:t>
            </a:r>
          </a:p>
          <a:p>
            <a:pPr>
              <a:spcAft>
                <a:spcPts val="400"/>
              </a:spcAft>
            </a:pPr>
            <a:r>
              <a:rPr sz="1400" b="0">
                <a:solidFill>
                  <a:srgbClr val="FFFFFF"/>
                </a:solidFill>
              </a:rPr>
              <a:t>Manual monitoring is impossible at scale across multiple markets simultaneously</a:t>
            </a:r>
          </a:p>
          <a:p>
            <a:pPr>
              <a:spcBef>
                <a:spcPts val="1200"/>
              </a:spcBef>
            </a:pPr>
            <a:r>
              <a:rPr sz="1800" b="1">
                <a:solidFill>
                  <a:srgbClr val="0257A1"/>
                </a:solidFill>
              </a:rPr>
              <a:t>Research Gap</a:t>
            </a:r>
          </a:p>
          <a:p>
            <a:pPr>
              <a:spcAft>
                <a:spcPts val="400"/>
              </a:spcAft>
            </a:pPr>
            <a:r>
              <a:rPr sz="1400" b="0">
                <a:solidFill>
                  <a:srgbClr val="FFFFFF"/>
                </a:solidFill>
              </a:rPr>
              <a:t>Existing approaches focus on single-asset sentiment — no cross-asset regime detection</a:t>
            </a:r>
          </a:p>
          <a:p>
            <a:pPr>
              <a:spcAft>
                <a:spcPts val="400"/>
              </a:spcAft>
            </a:pPr>
            <a:r>
              <a:rPr sz="1400" b="0">
                <a:solidFill>
                  <a:srgbClr val="FFFFFF"/>
                </a:solidFill>
              </a:rPr>
              <a:t>No unified framework integrating NLP sentiment with volatility regime models</a:t>
            </a:r>
          </a:p>
          <a:p>
            <a:pPr>
              <a:spcBef>
                <a:spcPts val="1200"/>
              </a:spcBef>
            </a:pPr>
            <a:r>
              <a:rPr sz="1400" b="1">
                <a:solidFill>
                  <a:srgbClr val="FFC000"/>
                </a:solidFill>
              </a:rPr>
              <a:t>Goal: </a:t>
            </a:r>
            <a:r>
              <a:rPr sz="1400">
                <a:solidFill>
                  <a:srgbClr val="FFFFFF"/>
                </a:solidFill>
              </a:rPr>
              <a:t>Build an automated system that detects market regime transitions using cross-asset NLP sentiment signals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rgbClr val="FFFFFF"/>
                </a:solidFill>
              </a:rPr>
              <a:t>Data &amp; NLP Pipeline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2"/>
          </p:nvPr>
        </p:nvSpPr>
        <p:spPr/>
        <p:txBody>
          <a:bodyPr/>
          <a:lstStyle/>
          <a:p>
            <a:r>
              <a:rPr sz="1400" b="1">
                <a:solidFill>
                  <a:srgbClr val="0257A1"/>
                </a:solidFill>
              </a:rPr>
              <a:t>~33 Million Documents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FFFFFF"/>
                </a:solidFill>
              </a:rPr>
              <a:t>Equities (SPY) — News &amp; earnings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FFFFFF"/>
                </a:solidFill>
              </a:rPr>
              <a:t>Crypto (BTC) — Social media &amp; Reddit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FFFFFF"/>
                </a:solidFill>
              </a:rPr>
              <a:t>Forex (EUR/USD) — Central bank comms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FFFFFF"/>
                </a:solidFill>
              </a:rPr>
              <a:t>Commodities (Gold) — Reports &amp; news</a:t>
            </a:r>
          </a:p>
          <a:p>
            <a:pPr>
              <a:spcBef>
                <a:spcPts val="1000"/>
              </a:spcBef>
            </a:pPr>
            <a:r>
              <a:rPr sz="1400" b="1">
                <a:solidFill>
                  <a:srgbClr val="0257A1"/>
                </a:solidFill>
              </a:rPr>
              <a:t>NLP Pipeline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FFFFFF"/>
                </a:solidFill>
              </a:rPr>
              <a:t>FinBERT ensemble transformer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FFFFFF"/>
                </a:solidFill>
              </a:rPr>
              <a:t>Daily aggregation per asset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FFFFFF"/>
                </a:solidFill>
              </a:rPr>
              <a:t>4,490 observations (2005–2025)</a:t>
            </a:r>
          </a:p>
          <a:p>
            <a:pPr>
              <a:spcBef>
                <a:spcPts val="800"/>
              </a:spcBef>
            </a:pPr>
            <a:r>
              <a:rPr sz="1100">
                <a:solidFill>
                  <a:srgbClr val="FFC000"/>
                </a:solidFill>
              </a:rPr>
              <a:t>→  22 engineered features</a:t>
            </a:r>
          </a:p>
        </p:txBody>
      </p:sp>
      <p:pic>
        <p:nvPicPr>
          <p:cNvPr id="5" name="Picture 4" descr="dashboard_sentim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84648" y="987552"/>
            <a:ext cx="6172200" cy="8655207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rgbClr val="FFFFFF"/>
                </a:solidFill>
              </a:rPr>
              <a:t>Two-Layer Architecture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2"/>
          </p:nvPr>
        </p:nvSpPr>
        <p:spPr/>
        <p:txBody>
          <a:bodyPr/>
          <a:lstStyle/>
          <a:p>
            <a:r>
              <a:rPr sz="1300" b="1">
                <a:solidFill>
                  <a:srgbClr val="0257A1"/>
                </a:solidFill>
              </a:rPr>
              <a:t>Layer 1: GARCH(1,1)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FFFFFF"/>
                </a:solidFill>
              </a:rPr>
              <a:t>Conditional variance per asset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FFFFFF"/>
                </a:solidFill>
              </a:rPr>
              <a:t>Volatility clustering + persistence</a:t>
            </a:r>
          </a:p>
          <a:p>
            <a:pPr>
              <a:spcBef>
                <a:spcPts val="800"/>
              </a:spcBef>
            </a:pPr>
            <a:r>
              <a:rPr sz="1300" b="1">
                <a:solidFill>
                  <a:srgbClr val="0257A1"/>
                </a:solidFill>
              </a:rPr>
              <a:t>Layer 2: Jump Model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FFFFFF"/>
                </a:solidFill>
              </a:rPr>
              <a:t>Data-driven jump penalty (CV)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FFFFFF"/>
                </a:solidFill>
              </a:rPr>
              <a:t>Detects structural regime breaks</a:t>
            </a:r>
          </a:p>
          <a:p>
            <a:pPr>
              <a:spcBef>
                <a:spcPts val="800"/>
              </a:spcBef>
            </a:pPr>
            <a:r>
              <a:rPr sz="1300" b="1">
                <a:solidFill>
                  <a:srgbClr val="FFC000"/>
                </a:solidFill>
              </a:rPr>
              <a:t>4 Regime States</a:t>
            </a:r>
          </a:p>
          <a:p>
            <a:pPr>
              <a:spcAft>
                <a:spcPts val="400"/>
              </a:spcAft>
            </a:pPr>
            <a:r>
              <a:rPr sz="1000" b="0">
                <a:solidFill>
                  <a:srgbClr val="2CA02C"/>
                </a:solidFill>
              </a:rPr>
              <a:t>Low Volatility</a:t>
            </a:r>
          </a:p>
          <a:p>
            <a:pPr>
              <a:spcAft>
                <a:spcPts val="400"/>
              </a:spcAft>
            </a:pPr>
            <a:r>
              <a:rPr sz="1000" b="0">
                <a:solidFill>
                  <a:srgbClr val="1F77B4"/>
                </a:solidFill>
              </a:rPr>
              <a:t>Normal</a:t>
            </a:r>
          </a:p>
          <a:p>
            <a:pPr>
              <a:spcAft>
                <a:spcPts val="400"/>
              </a:spcAft>
            </a:pPr>
            <a:r>
              <a:rPr sz="1000" b="0">
                <a:solidFill>
                  <a:srgbClr val="FF7F0E"/>
                </a:solidFill>
              </a:rPr>
              <a:t>Elevated</a:t>
            </a:r>
          </a:p>
          <a:p>
            <a:pPr>
              <a:spcAft>
                <a:spcPts val="400"/>
              </a:spcAft>
            </a:pPr>
            <a:r>
              <a:rPr sz="1000" b="0">
                <a:solidFill>
                  <a:srgbClr val="C00000"/>
                </a:solidFill>
              </a:rPr>
              <a:t>High Volatility</a:t>
            </a:r>
          </a:p>
          <a:p>
            <a:pPr>
              <a:spcBef>
                <a:spcPts val="600"/>
              </a:spcBef>
            </a:pPr>
            <a:r>
              <a:rPr sz="900" i="1">
                <a:solidFill>
                  <a:srgbClr val="CCCCCC"/>
                </a:solidFill>
              </a:rPr>
              <a:t>Network: Transfer Entropy for cross-asset information flow (H3)</a:t>
            </a:r>
          </a:p>
        </p:txBody>
      </p:sp>
      <p:pic>
        <p:nvPicPr>
          <p:cNvPr id="5" name="Picture 4" descr="dashboard_garch_regim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84648" y="987552"/>
            <a:ext cx="6172200" cy="3629427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rgbClr val="FFFFFF"/>
                </a:solidFill>
              </a:rPr>
              <a:t>Validation Framework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2"/>
          </p:nvPr>
        </p:nvSpPr>
        <p:spPr/>
        <p:txBody>
          <a:bodyPr/>
          <a:lstStyle/>
          <a:p>
            <a:r>
              <a:rPr sz="1400" b="1">
                <a:solidFill>
                  <a:srgbClr val="0257A1"/>
                </a:solidFill>
              </a:rPr>
              <a:t>Walk-Forward CV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FFFFFF"/>
                </a:solidFill>
              </a:rPr>
              <a:t>756-day training window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FFFFFF"/>
                </a:solidFill>
              </a:rPr>
              <a:t>63-day test window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FFFFFF"/>
                </a:solidFill>
              </a:rPr>
              <a:t>5-day purge gap</a:t>
            </a:r>
          </a:p>
          <a:p>
            <a:pPr>
              <a:spcBef>
                <a:spcPts val="1000"/>
              </a:spcBef>
            </a:pPr>
            <a:r>
              <a:rPr sz="1400" b="1">
                <a:solidFill>
                  <a:srgbClr val="0257A1"/>
                </a:solidFill>
              </a:rPr>
              <a:t>Pre-Registered Hypotheses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FFFFFF"/>
                </a:solidFill>
              </a:rPr>
              <a:t>H1: Sentiment leads regime transitions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FFFFFF"/>
                </a:solidFill>
              </a:rPr>
              <a:t>H2: Divergence increases before transitions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FFFFFF"/>
                </a:solidFill>
              </a:rPr>
              <a:t>H3: Network connectedness rises pre-crisis</a:t>
            </a:r>
          </a:p>
        </p:txBody>
      </p:sp>
      <p:pic>
        <p:nvPicPr>
          <p:cNvPr id="5" name="Picture 4" descr="fig_5_5_regime_vs_vix_covid_v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84648" y="987552"/>
            <a:ext cx="6172200" cy="3604603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rgbClr val="FFFFFF"/>
                </a:solidFill>
              </a:rPr>
              <a:t>Classification Performance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2"/>
          </p:nvPr>
        </p:nvSpPr>
        <p:spPr/>
        <p:txBody>
          <a:bodyPr/>
          <a:lstStyle/>
          <a:p>
            <a:r>
              <a:rPr sz="1400" b="1">
                <a:solidFill>
                  <a:srgbClr val="0257A1"/>
                </a:solidFill>
              </a:rPr>
              <a:t>Key Metrics</a:t>
            </a:r>
          </a:p>
          <a:p>
            <a:pPr>
              <a:spcAft>
                <a:spcPts val="300"/>
              </a:spcAft>
            </a:pPr>
            <a:r>
              <a:rPr sz="1300">
                <a:solidFill>
                  <a:srgbClr val="CCCCCC"/>
                </a:solidFill>
              </a:rPr>
              <a:t>Accuracy:  </a:t>
            </a:r>
            <a:r>
              <a:rPr sz="1600" b="1">
                <a:solidFill>
                  <a:srgbClr val="FFC000"/>
                </a:solidFill>
              </a:rPr>
              <a:t>92.84%</a:t>
            </a:r>
          </a:p>
          <a:p>
            <a:pPr>
              <a:spcAft>
                <a:spcPts val="300"/>
              </a:spcAft>
            </a:pPr>
            <a:r>
              <a:rPr sz="1300">
                <a:solidFill>
                  <a:srgbClr val="CCCCCC"/>
                </a:solidFill>
              </a:rPr>
              <a:t>F1 Weighted:  </a:t>
            </a:r>
            <a:r>
              <a:rPr sz="1600" b="1">
                <a:solidFill>
                  <a:srgbClr val="FFC000"/>
                </a:solidFill>
              </a:rPr>
              <a:t>0.9236</a:t>
            </a:r>
          </a:p>
          <a:p>
            <a:pPr>
              <a:spcAft>
                <a:spcPts val="300"/>
              </a:spcAft>
            </a:pPr>
            <a:r>
              <a:rPr sz="1300">
                <a:solidFill>
                  <a:srgbClr val="CCCCCC"/>
                </a:solidFill>
              </a:rPr>
              <a:t>MCC:  </a:t>
            </a:r>
            <a:r>
              <a:rPr sz="1600" b="1">
                <a:solidFill>
                  <a:srgbClr val="FFC000"/>
                </a:solidFill>
              </a:rPr>
              <a:t>0.8279</a:t>
            </a:r>
          </a:p>
          <a:p>
            <a:pPr>
              <a:spcAft>
                <a:spcPts val="300"/>
              </a:spcAft>
            </a:pPr>
            <a:r>
              <a:rPr sz="1300">
                <a:solidFill>
                  <a:srgbClr val="CCCCCC"/>
                </a:solidFill>
              </a:rPr>
              <a:t>Transition Acc.:  </a:t>
            </a:r>
            <a:r>
              <a:rPr sz="1600" b="1">
                <a:solidFill>
                  <a:srgbClr val="FFC000"/>
                </a:solidFill>
              </a:rPr>
              <a:t>80.10%</a:t>
            </a:r>
          </a:p>
          <a:p>
            <a:pPr>
              <a:spcBef>
                <a:spcPts val="1000"/>
              </a:spcBef>
            </a:pPr>
            <a:r>
              <a:rPr sz="1000" i="1">
                <a:solidFill>
                  <a:srgbClr val="CCCCCC"/>
                </a:solidFill>
              </a:rPr>
              <a:t>MCC is primary metric — accounts for class imbalance across 4 regime states</a:t>
            </a:r>
          </a:p>
        </p:txBody>
      </p:sp>
      <p:pic>
        <p:nvPicPr>
          <p:cNvPr id="5" name="Picture 4" descr="fig_5_5_transition_confusion_matri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84648" y="987552"/>
            <a:ext cx="5279752" cy="4572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rgbClr val="FFFFFF"/>
                </a:solidFill>
              </a:rPr>
              <a:t>H1: Sentiment Lead Time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2"/>
          </p:nvPr>
        </p:nvSpPr>
        <p:spPr/>
        <p:txBody>
          <a:bodyPr/>
          <a:lstStyle/>
          <a:p>
            <a:r>
              <a:rPr sz="1600" b="1">
                <a:solidFill>
                  <a:srgbClr val="C00000"/>
                </a:solidFill>
              </a:rPr>
              <a:t>H1 — NOT CONFIRMED</a:t>
            </a:r>
          </a:p>
          <a:p>
            <a:pPr>
              <a:spcAft>
                <a:spcPts val="400"/>
              </a:spcAft>
            </a:pPr>
            <a:r>
              <a:rPr sz="1200" b="1">
                <a:solidFill>
                  <a:srgbClr val="FFFFFF"/>
                </a:solidFill>
              </a:rPr>
              <a:t>Does sentiment lead regime transitions by 1–5 days?</a:t>
            </a:r>
          </a:p>
          <a:p>
            <a:pPr>
              <a:spcBef>
                <a:spcPts val="800"/>
              </a:spcBef>
            </a:pPr>
            <a:r>
              <a:rPr sz="1400" b="1">
                <a:solidFill>
                  <a:srgbClr val="0257A1"/>
                </a:solidFill>
              </a:rPr>
              <a:t>Results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FFFFFF"/>
                </a:solidFill>
              </a:rPr>
              <a:t>Peak alignment at lag 0 — no 1-5 day lead detected globally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CCCCCC"/>
                </a:solidFill>
              </a:rPr>
              <a:t>Only 1 event window confirmed (needed ≥2 for project-level support)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CCCCCC"/>
                </a:solidFill>
              </a:rPr>
              <a:t>COVID-19 showed localized lead, but not generalizable</a:t>
            </a:r>
          </a:p>
          <a:p>
            <a:pPr>
              <a:spcBef>
                <a:spcPts val="800"/>
              </a:spcBef>
            </a:pPr>
            <a:r>
              <a:rPr sz="1100" i="1">
                <a:solidFill>
                  <a:srgbClr val="FFC000"/>
                </a:solidFill>
              </a:rPr>
              <a:t>→  Standalone sentiment is not a reliable leading indicator</a:t>
            </a:r>
          </a:p>
        </p:txBody>
      </p:sp>
      <p:pic>
        <p:nvPicPr>
          <p:cNvPr id="5" name="Picture 4" descr="fig_5_5_h1_lead_time_summary_v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84648" y="987552"/>
            <a:ext cx="4416944" cy="4873752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rgbClr val="FFFFFF"/>
                </a:solidFill>
              </a:rPr>
              <a:t>H2 &amp; H3: Divergence &amp; Network Effects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2"/>
          </p:nvPr>
        </p:nvSpPr>
        <p:spPr/>
        <p:txBody>
          <a:bodyPr/>
          <a:lstStyle/>
          <a:p>
            <a:r>
              <a:rPr sz="1400" b="1">
                <a:solidFill>
                  <a:srgbClr val="2E8B57"/>
                </a:solidFill>
              </a:rPr>
              <a:t>H2 — SUPPORTED  ✓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FFFFFF"/>
                </a:solidFill>
              </a:rPr>
              <a:t>Cross-asset divergence increases before transitions</a:t>
            </a:r>
          </a:p>
          <a:p>
            <a:pPr>
              <a:spcAft>
                <a:spcPts val="400"/>
              </a:spcAft>
            </a:pPr>
            <a:r>
              <a:rPr sz="1000" b="0">
                <a:solidFill>
                  <a:srgbClr val="CCCCCC"/>
                </a:solidFill>
              </a:rPr>
              <a:t>Ratio = 1.19×  |  t = 18.73</a:t>
            </a:r>
          </a:p>
          <a:p>
            <a:pPr>
              <a:spcAft>
                <a:spcPts val="400"/>
              </a:spcAft>
            </a:pPr>
            <a:r>
              <a:rPr sz="1000" b="0">
                <a:solidFill>
                  <a:srgbClr val="CCCCCC"/>
                </a:solidFill>
              </a:rPr>
              <a:t>p &lt; 0.001  |  Cohen's d = 0.58</a:t>
            </a:r>
          </a:p>
          <a:p>
            <a:pPr>
              <a:spcBef>
                <a:spcPts val="1000"/>
              </a:spcBef>
            </a:pPr>
            <a:r>
              <a:rPr sz="1400" b="1">
                <a:solidFill>
                  <a:srgbClr val="2E8B57"/>
                </a:solidFill>
              </a:rPr>
              <a:t>H3 — SUPPORTED  ✓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FFFFFF"/>
                </a:solidFill>
              </a:rPr>
              <a:t>Network connectedness differs across regimes</a:t>
            </a:r>
          </a:p>
          <a:p>
            <a:pPr>
              <a:spcAft>
                <a:spcPts val="400"/>
              </a:spcAft>
            </a:pPr>
            <a:r>
              <a:rPr sz="1000" b="0">
                <a:solidFill>
                  <a:srgbClr val="CCCCCC"/>
                </a:solidFill>
              </a:rPr>
              <a:t>TCI: 0.5402 (stable) vs 0.4569 (trans.)</a:t>
            </a:r>
          </a:p>
          <a:p>
            <a:pPr>
              <a:spcAft>
                <a:spcPts val="400"/>
              </a:spcAft>
            </a:pPr>
            <a:r>
              <a:rPr sz="1000" b="0">
                <a:solidFill>
                  <a:srgbClr val="CCCCCC"/>
                </a:solidFill>
              </a:rPr>
              <a:t>ANOVA F = 427.44  |  p &lt; 0.001</a:t>
            </a:r>
          </a:p>
          <a:p>
            <a:pPr>
              <a:spcBef>
                <a:spcPts val="800"/>
              </a:spcBef>
            </a:pPr>
            <a:r>
              <a:rPr sz="1100" i="1">
                <a:solidFill>
                  <a:srgbClr val="FFC000"/>
                </a:solidFill>
              </a:rPr>
              <a:t>→  Market disagreement (not level) signals regime shifts</a:t>
            </a:r>
          </a:p>
        </p:txBody>
      </p:sp>
      <p:pic>
        <p:nvPicPr>
          <p:cNvPr id="5" name="Picture 4" descr="fig_5_6_h2_divergence_distribu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84648" y="987552"/>
            <a:ext cx="6172200" cy="4324837"/>
          </a:xfrm>
          <a:prstGeom prst="rect">
            <a:avLst/>
          </a:prstGeom>
        </p:spPr>
      </p:pic>
      <p:pic>
        <p:nvPicPr>
          <p:cNvPr id="6" name="Picture 5" descr="fig_5_6_h3_connectedness_comparis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84648" y="3429000"/>
            <a:ext cx="6172200" cy="4510138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rgbClr val="FFFFFF"/>
                </a:solidFill>
              </a:rPr>
              <a:t>Live Production Dashboard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2"/>
          </p:nvPr>
        </p:nvSpPr>
        <p:spPr/>
        <p:txBody>
          <a:bodyPr/>
          <a:lstStyle/>
          <a:p>
            <a:r>
              <a:rPr sz="1400" b="1" dirty="0">
                <a:solidFill>
                  <a:srgbClr val="0257A1"/>
                </a:solidFill>
              </a:rPr>
              <a:t>Backend</a:t>
            </a:r>
          </a:p>
          <a:p>
            <a:pPr>
              <a:spcAft>
                <a:spcPts val="400"/>
              </a:spcAft>
            </a:pPr>
            <a:r>
              <a:rPr sz="1200" b="0" dirty="0">
                <a:solidFill>
                  <a:srgbClr val="FFFFFF"/>
                </a:solidFill>
              </a:rPr>
              <a:t>FastAPI (Python)</a:t>
            </a:r>
          </a:p>
          <a:p>
            <a:pPr>
              <a:spcAft>
                <a:spcPts val="400"/>
              </a:spcAft>
            </a:pPr>
            <a:r>
              <a:rPr sz="1200" b="0" dirty="0">
                <a:solidFill>
                  <a:srgbClr val="FFFFFF"/>
                </a:solidFill>
              </a:rPr>
              <a:t>PostgreSQL database</a:t>
            </a:r>
          </a:p>
          <a:p>
            <a:pPr>
              <a:spcAft>
                <a:spcPts val="400"/>
              </a:spcAft>
            </a:pPr>
            <a:r>
              <a:rPr sz="1200" b="0" dirty="0">
                <a:solidFill>
                  <a:srgbClr val="FFFFFF"/>
                </a:solidFill>
              </a:rPr>
              <a:t>Railway hosting</a:t>
            </a:r>
          </a:p>
          <a:p>
            <a:pPr>
              <a:spcAft>
                <a:spcPts val="400"/>
              </a:spcAft>
            </a:pPr>
            <a:r>
              <a:rPr sz="1200" b="0" dirty="0">
                <a:solidFill>
                  <a:srgbClr val="FFFFFF"/>
                </a:solidFill>
              </a:rPr>
              <a:t>Daily CRON refresh</a:t>
            </a:r>
          </a:p>
          <a:p>
            <a:pPr>
              <a:spcBef>
                <a:spcPts val="1000"/>
              </a:spcBef>
            </a:pPr>
            <a:r>
              <a:rPr sz="1400" b="1" dirty="0">
                <a:solidFill>
                  <a:srgbClr val="0257A1"/>
                </a:solidFill>
              </a:rPr>
              <a:t>Frontend</a:t>
            </a:r>
          </a:p>
          <a:p>
            <a:pPr>
              <a:spcAft>
                <a:spcPts val="400"/>
              </a:spcAft>
            </a:pPr>
            <a:r>
              <a:rPr sz="1200" b="0" dirty="0" err="1">
                <a:solidFill>
                  <a:srgbClr val="FFFFFF"/>
                </a:solidFill>
              </a:rPr>
              <a:t>Next.js</a:t>
            </a:r>
            <a:r>
              <a:rPr sz="1200" b="0" dirty="0">
                <a:solidFill>
                  <a:srgbClr val="FFFFFF"/>
                </a:solidFill>
              </a:rPr>
              <a:t> + TypeScript</a:t>
            </a:r>
          </a:p>
          <a:p>
            <a:pPr>
              <a:spcAft>
                <a:spcPts val="400"/>
              </a:spcAft>
            </a:pPr>
            <a:r>
              <a:rPr sz="1200" b="0" dirty="0">
                <a:solidFill>
                  <a:srgbClr val="FFFFFF"/>
                </a:solidFill>
              </a:rPr>
              <a:t>Recharts visualization</a:t>
            </a:r>
          </a:p>
          <a:p>
            <a:pPr>
              <a:spcAft>
                <a:spcPts val="400"/>
              </a:spcAft>
            </a:pPr>
            <a:r>
              <a:rPr sz="1200" b="0" dirty="0">
                <a:solidFill>
                  <a:srgbClr val="FFFFFF"/>
                </a:solidFill>
              </a:rPr>
              <a:t>Vercel deployment</a:t>
            </a:r>
          </a:p>
          <a:p>
            <a:pPr>
              <a:spcBef>
                <a:spcPts val="1000"/>
              </a:spcBef>
            </a:pPr>
            <a:r>
              <a:rPr lang="en-US" sz="1000" i="1" dirty="0">
                <a:solidFill>
                  <a:srgbClr val="FFC000"/>
                </a:solidFill>
              </a:rPr>
              <a:t>www.market-sentiment.io </a:t>
            </a:r>
            <a:endParaRPr sz="1000" i="1" dirty="0">
              <a:solidFill>
                <a:srgbClr val="FFC000"/>
              </a:solidFill>
            </a:endParaRPr>
          </a:p>
        </p:txBody>
      </p:sp>
      <p:pic>
        <p:nvPicPr>
          <p:cNvPr id="5" name="Picture 4" descr="dashboard_regime_overvie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84648" y="987552"/>
            <a:ext cx="6172200" cy="6084496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rgbClr val="FFFFFF"/>
                </a:solidFill>
              </a:rPr>
              <a:t>Discussion &amp; Limitations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sz="1600" b="1">
                <a:solidFill>
                  <a:srgbClr val="0257A1"/>
                </a:solidFill>
              </a:rPr>
              <a:t>Key Findings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FFFFFF"/>
                </a:solidFill>
              </a:rPr>
              <a:t>Cross-asset sentiment divergence (H2) is the strongest predictive signal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FFFFFF"/>
                </a:solidFill>
              </a:rPr>
              <a:t>Network effects (H3) confirm information cascades during regime transitions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FFFFFF"/>
                </a:solidFill>
              </a:rPr>
              <a:t>Individual sentiment-to-regime lag (H1) is not reliable as standalone indicator</a:t>
            </a:r>
          </a:p>
          <a:p>
            <a:pPr>
              <a:spcBef>
                <a:spcPts val="1200"/>
              </a:spcBef>
            </a:pPr>
            <a:r>
              <a:rPr sz="1600" b="1">
                <a:solidFill>
                  <a:srgbClr val="C00000"/>
                </a:solidFill>
              </a:rPr>
              <a:t>Limitations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FFFFFF"/>
                </a:solidFill>
              </a:rPr>
              <a:t>Computational cost — repeated CV tuning and rolling validation are expensive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FFFFFF"/>
                </a:solidFill>
              </a:rPr>
              <a:t>Transformer inference latency — may limit near-real-time operation on large streams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FFFFFF"/>
                </a:solidFill>
              </a:rPr>
              <a:t>Mixed-frequency alignment noise — irregular text vs. regular market bars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FFFFFF"/>
                </a:solidFill>
              </a:rPr>
              <a:t>Data quality — bots, sarcasm, selection bias in public discourse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FFFFFF"/>
                </a:solidFill>
              </a:rPr>
              <a:t>Correlational design — observed relationships may not be causal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rgbClr val="FFFFFF"/>
                </a:solidFill>
              </a:rPr>
              <a:t>Conclusion &amp; Future Work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sz="1600" b="1">
                <a:solidFill>
                  <a:srgbClr val="0257A1"/>
                </a:solidFill>
              </a:rPr>
              <a:t>Contributions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FFFFFF"/>
                </a:solidFill>
              </a:rPr>
              <a:t>First unified framework combining NLP sentiment with volatility regime detection across asset classes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FFFFFF"/>
                </a:solidFill>
              </a:rPr>
              <a:t>Novel cross-asset divergence metric as regime transition signal (H2)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FFFFFF"/>
                </a:solidFill>
              </a:rPr>
              <a:t>Production-grade dashboard with daily automated updates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FFFFFF"/>
                </a:solidFill>
              </a:rPr>
              <a:t>92.84% accuracy, 0.8279 MCC on 4-class regime classification</a:t>
            </a:r>
          </a:p>
          <a:p>
            <a:pPr>
              <a:spcBef>
                <a:spcPts val="1200"/>
              </a:spcBef>
            </a:pPr>
            <a:r>
              <a:rPr sz="1600" b="1">
                <a:solidFill>
                  <a:srgbClr val="0257A1"/>
                </a:solidFill>
              </a:rPr>
              <a:t>Future Directions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FFFFFF"/>
                </a:solidFill>
              </a:rPr>
              <a:t>Adaptive model weighting (IMCA-style recalibration)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FFFFFF"/>
                </a:solidFill>
              </a:rPr>
              <a:t>Multimodal signals (earnings-call audio) and high-frequency decomposition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FFFFFF"/>
                </a:solidFill>
              </a:rPr>
              <a:t>Expand to additional asset classes (bonds, REITs) and multilingual discourse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FFFFFF"/>
                </a:solidFill>
              </a:rPr>
              <a:t>Causal identification to distinguish sentiment-to-price from reverse causality</a:t>
            </a:r>
          </a:p>
          <a:p>
            <a:pPr algn="ctr">
              <a:spcBef>
                <a:spcPts val="1400"/>
              </a:spcBef>
            </a:pPr>
            <a:r>
              <a:rPr sz="2000" b="1">
                <a:solidFill>
                  <a:srgbClr val="FFC000"/>
                </a:solidFill>
              </a:rPr>
              <a:t>Thank You — Questions?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2460</TotalTime>
  <Words>628</Words>
  <Application>Microsoft Macintosh PowerPoint</Application>
  <PresentationFormat>Widescreen</PresentationFormat>
  <Paragraphs>106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Cross-Asset Sentiment Regime Detector</vt:lpstr>
      <vt:lpstr>Problem &amp; Motivation</vt:lpstr>
      <vt:lpstr>Data &amp; NLP Pipeline</vt:lpstr>
      <vt:lpstr>Two-Layer Architecture</vt:lpstr>
      <vt:lpstr>Validation Framework</vt:lpstr>
      <vt:lpstr>Classification Performance</vt:lpstr>
      <vt:lpstr>H1: Sentiment Lead Time</vt:lpstr>
      <vt:lpstr>H2 &amp; H3: Divergence &amp; Network Effects</vt:lpstr>
      <vt:lpstr>Live Production Dashboard</vt:lpstr>
      <vt:lpstr>Discussion &amp; Limitations</vt:lpstr>
      <vt:lpstr>Conclusion &amp; Future Work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Dawson, Dawson</dc:creator>
  <cp:lastModifiedBy>Jonathan Rocha</cp:lastModifiedBy>
  <cp:revision>58</cp:revision>
  <dcterms:created xsi:type="dcterms:W3CDTF">2021-03-11T03:54:50Z</dcterms:created>
  <dcterms:modified xsi:type="dcterms:W3CDTF">2026-03-06T05:22:02Z</dcterms:modified>
</cp:coreProperties>
</file>