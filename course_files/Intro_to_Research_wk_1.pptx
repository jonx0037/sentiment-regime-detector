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68" r:id="rId4"/>
    <p:sldId id="258" r:id="rId5"/>
    <p:sldId id="267" r:id="rId6"/>
    <p:sldId id="269" r:id="rId7"/>
    <p:sldId id="277" r:id="rId8"/>
    <p:sldId id="263" r:id="rId9"/>
    <p:sldId id="271" r:id="rId10"/>
    <p:sldId id="276" r:id="rId11"/>
    <p:sldId id="275" r:id="rId12"/>
    <p:sldId id="279" r:id="rId13"/>
    <p:sldId id="280" r:id="rId14"/>
    <p:sldId id="278" r:id="rId15"/>
    <p:sldId id="261" r:id="rId16"/>
    <p:sldId id="264" r:id="rId17"/>
    <p:sldId id="270" r:id="rId18"/>
    <p:sldId id="259" r:id="rId19"/>
    <p:sldId id="260" r:id="rId20"/>
    <p:sldId id="272" r:id="rId21"/>
    <p:sldId id="273" r:id="rId22"/>
    <p:sldId id="274" r:id="rId2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5226" autoAdjust="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ie Cheun-Jensen" userId="d5041ace5c27bae6" providerId="LiveId" clId="{949072F9-D02C-4524-8D48-9D723C4FD258}"/>
    <pc:docChg chg="custSel addSld modSld">
      <pc:chgData name="Jacquie Cheun-Jensen" userId="d5041ace5c27bae6" providerId="LiveId" clId="{949072F9-D02C-4524-8D48-9D723C4FD258}" dt="2026-01-05T23:35:26.363" v="148" actId="20577"/>
      <pc:docMkLst>
        <pc:docMk/>
      </pc:docMkLst>
      <pc:sldChg chg="modSp mod">
        <pc:chgData name="Jacquie Cheun-Jensen" userId="d5041ace5c27bae6" providerId="LiveId" clId="{949072F9-D02C-4524-8D48-9D723C4FD258}" dt="2026-01-05T23:35:26.363" v="148" actId="20577"/>
        <pc:sldMkLst>
          <pc:docMk/>
          <pc:sldMk cId="1677321490" sldId="256"/>
        </pc:sldMkLst>
        <pc:spChg chg="mod">
          <ac:chgData name="Jacquie Cheun-Jensen" userId="d5041ace5c27bae6" providerId="LiveId" clId="{949072F9-D02C-4524-8D48-9D723C4FD258}" dt="2026-01-05T23:35:26.363" v="148" actId="20577"/>
          <ac:spMkLst>
            <pc:docMk/>
            <pc:sldMk cId="1677321490" sldId="256"/>
            <ac:spMk id="2" creationId="{00000000-0000-0000-0000-000000000000}"/>
          </ac:spMkLst>
        </pc:spChg>
      </pc:sldChg>
      <pc:sldChg chg="addSp delSp mod">
        <pc:chgData name="Jacquie Cheun-Jensen" userId="d5041ace5c27bae6" providerId="LiveId" clId="{949072F9-D02C-4524-8D48-9D723C4FD258}" dt="2026-01-05T17:32:07.782" v="17" actId="22"/>
        <pc:sldMkLst>
          <pc:docMk/>
          <pc:sldMk cId="1881417302" sldId="258"/>
        </pc:sldMkLst>
        <pc:picChg chg="add">
          <ac:chgData name="Jacquie Cheun-Jensen" userId="d5041ace5c27bae6" providerId="LiveId" clId="{949072F9-D02C-4524-8D48-9D723C4FD258}" dt="2026-01-05T17:32:07.782" v="17" actId="22"/>
          <ac:picMkLst>
            <pc:docMk/>
            <pc:sldMk cId="1881417302" sldId="258"/>
            <ac:picMk id="3" creationId="{B107C7D2-3F83-D58D-FC4F-7DD21489DAB4}"/>
          </ac:picMkLst>
        </pc:picChg>
        <pc:picChg chg="del">
          <ac:chgData name="Jacquie Cheun-Jensen" userId="d5041ace5c27bae6" providerId="LiveId" clId="{949072F9-D02C-4524-8D48-9D723C4FD258}" dt="2026-01-05T17:32:07.292" v="16" actId="478"/>
          <ac:picMkLst>
            <pc:docMk/>
            <pc:sldMk cId="1881417302" sldId="258"/>
            <ac:picMk id="5" creationId="{8AE48092-8943-078D-4A4E-884558343961}"/>
          </ac:picMkLst>
        </pc:picChg>
      </pc:sldChg>
      <pc:sldChg chg="modSp mod">
        <pc:chgData name="Jacquie Cheun-Jensen" userId="d5041ace5c27bae6" providerId="LiveId" clId="{949072F9-D02C-4524-8D48-9D723C4FD258}" dt="2026-01-05T17:31:46.095" v="15" actId="20577"/>
        <pc:sldMkLst>
          <pc:docMk/>
          <pc:sldMk cId="1029844376" sldId="268"/>
        </pc:sldMkLst>
        <pc:spChg chg="mod">
          <ac:chgData name="Jacquie Cheun-Jensen" userId="d5041ace5c27bae6" providerId="LiveId" clId="{949072F9-D02C-4524-8D48-9D723C4FD258}" dt="2026-01-05T17:31:46.095" v="15" actId="20577"/>
          <ac:spMkLst>
            <pc:docMk/>
            <pc:sldMk cId="1029844376" sldId="268"/>
            <ac:spMk id="3" creationId="{00000000-0000-0000-0000-000000000000}"/>
          </ac:spMkLst>
        </pc:spChg>
      </pc:sldChg>
      <pc:sldChg chg="modSp mod">
        <pc:chgData name="Jacquie Cheun-Jensen" userId="d5041ace5c27bae6" providerId="LiveId" clId="{949072F9-D02C-4524-8D48-9D723C4FD258}" dt="2026-01-05T17:33:16.145" v="23" actId="20577"/>
        <pc:sldMkLst>
          <pc:docMk/>
          <pc:sldMk cId="1235972782" sldId="279"/>
        </pc:sldMkLst>
        <pc:spChg chg="mod">
          <ac:chgData name="Jacquie Cheun-Jensen" userId="d5041ace5c27bae6" providerId="LiveId" clId="{949072F9-D02C-4524-8D48-9D723C4FD258}" dt="2026-01-05T17:33:16.145" v="23" actId="20577"/>
          <ac:spMkLst>
            <pc:docMk/>
            <pc:sldMk cId="1235972782" sldId="279"/>
            <ac:spMk id="3" creationId="{B2CDB0E7-6F36-4C70-BE5F-76AE4D1515E0}"/>
          </ac:spMkLst>
        </pc:spChg>
      </pc:sldChg>
      <pc:sldChg chg="modSp new mod">
        <pc:chgData name="Jacquie Cheun-Jensen" userId="d5041ace5c27bae6" providerId="LiveId" clId="{949072F9-D02C-4524-8D48-9D723C4FD258}" dt="2026-01-05T17:34:14.171" v="147" actId="20577"/>
        <pc:sldMkLst>
          <pc:docMk/>
          <pc:sldMk cId="3187257121" sldId="280"/>
        </pc:sldMkLst>
        <pc:spChg chg="mod">
          <ac:chgData name="Jacquie Cheun-Jensen" userId="d5041ace5c27bae6" providerId="LiveId" clId="{949072F9-D02C-4524-8D48-9D723C4FD258}" dt="2026-01-05T17:33:47.940" v="37" actId="20577"/>
          <ac:spMkLst>
            <pc:docMk/>
            <pc:sldMk cId="3187257121" sldId="280"/>
            <ac:spMk id="2" creationId="{4BED329B-C373-4595-64ED-3A0B63B346DE}"/>
          </ac:spMkLst>
        </pc:spChg>
        <pc:spChg chg="mod">
          <ac:chgData name="Jacquie Cheun-Jensen" userId="d5041ace5c27bae6" providerId="LiveId" clId="{949072F9-D02C-4524-8D48-9D723C4FD258}" dt="2026-01-05T17:34:14.171" v="147" actId="20577"/>
          <ac:spMkLst>
            <pc:docMk/>
            <pc:sldMk cId="3187257121" sldId="280"/>
            <ac:spMk id="3" creationId="{7100ABAF-AAE9-520B-6435-E637F2863A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35336F5-A68D-9A4A-83AB-B8CD6FA5C73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AA9633A-392A-4347-9D1C-FF5FFE947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27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A9633A-392A-4347-9D1C-FF5FFE9476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2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633A-392A-4347-9D1C-FF5FFE9476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0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633A-392A-4347-9D1C-FF5FFE9476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11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34039" lvl="1" indent="-543719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</a:p>
          <a:p>
            <a:pPr marL="834039" lvl="1" indent="-543719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satisfy the researcher’s curiosity and desire for better understanding</a:t>
            </a:r>
          </a:p>
          <a:p>
            <a:pPr marL="834039" lvl="1" indent="-543719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test the feasibility of undertaking a more extensive study</a:t>
            </a:r>
          </a:p>
          <a:p>
            <a:pPr marL="834039" lvl="1" indent="-543719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develop the methods to be employed in any subsequent study</a:t>
            </a:r>
          </a:p>
          <a:p>
            <a:pPr defTabSz="966612">
              <a:defRPr/>
            </a:pPr>
            <a:r>
              <a:rPr lang="en-US" dirty="0"/>
              <a:t>2.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 situations and events through scientific observation</a:t>
            </a:r>
          </a:p>
          <a:p>
            <a:pPr marL="834039" lvl="1" indent="-543719"/>
            <a:r>
              <a:rPr lang="en-US" dirty="0"/>
              <a:t>3.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Descriptive studies answer questions of what, where, when, and how</a:t>
            </a:r>
          </a:p>
          <a:p>
            <a:pPr marL="834039" lvl="1" indent="-543719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Explanatory studies answer questions of why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633A-392A-4347-9D1C-FF5FFE9476B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90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38327683-8978-6B4B-9130-4A6A841F05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B6F93F85-28A1-8344-9763-EF19E19F9128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38327683-8978-6B4B-9130-4A6A841F054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A2B5E9FB-9AD4-754B-A772-6D3733DD5BAC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3140DF9E-9222-EE48-A64D-28DE5FAE4784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A61490FA-57A5-0041-9FDC-ACD83A9AA0E7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7E8290BC-2F66-E549-BF33-0BE20A5801B5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3BC728CC-7587-8545-9431-C9A8BB34EC62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9A66CD15-5422-0542-9CE8-BC312846333A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2A2384D1-AE54-4D4A-B83F-6EAD03BEB987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D8AC05B1-2526-7C44-8A74-66C916069F4A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528449"/>
            <a:ext cx="2057400" cy="365125"/>
          </a:xfrm>
          <a:prstGeom prst="rect">
            <a:avLst/>
          </a:prstGeom>
        </p:spPr>
        <p:txBody>
          <a:bodyPr/>
          <a:lstStyle/>
          <a:p>
            <a:fld id="{C0E5C021-D243-504D-84B8-D45D829E8B6B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38327683-8978-6B4B-9130-4A6A841F05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28650" y="6356350"/>
            <a:ext cx="1892128" cy="4889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ＭＳ Ｐゴシック" charset="-128"/>
                <a:cs typeface="+mj-cs"/>
              </a:defRPr>
            </a:lvl1pPr>
            <a:lvl2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2pPr>
            <a:lvl3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3pPr>
            <a:lvl4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4pPr>
            <a:lvl5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5pPr>
            <a:lvl6pPr marL="4572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pPr>
              <a:defRPr/>
            </a:pPr>
            <a:r>
              <a:rPr lang="en-US" sz="1600" b="1" kern="0" dirty="0" err="1">
                <a:solidFill>
                  <a:srgbClr val="0257A1"/>
                </a:solidFill>
              </a:rPr>
              <a:t>DataScience</a:t>
            </a:r>
            <a:r>
              <a:rPr lang="en-US" sz="1600" b="1" kern="0" dirty="0" err="1">
                <a:solidFill>
                  <a:srgbClr val="C00000"/>
                </a:solidFill>
              </a:rPr>
              <a:t>@</a:t>
            </a:r>
            <a:r>
              <a:rPr lang="en-US" sz="1600" b="1" kern="0" dirty="0" err="1">
                <a:solidFill>
                  <a:srgbClr val="0257A1"/>
                </a:solidFill>
              </a:rPr>
              <a:t>SMU</a:t>
            </a:r>
            <a:endParaRPr lang="en-US" sz="1600" b="1" kern="0" dirty="0">
              <a:solidFill>
                <a:srgbClr val="0257A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17093" y="6295132"/>
            <a:ext cx="939114" cy="48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0000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smu.edu/datasciencereview/about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mu.edu/OIT/Services/Axiom-Mento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5901" y="465655"/>
            <a:ext cx="7772400" cy="1619020"/>
          </a:xfrm>
        </p:spPr>
        <p:txBody>
          <a:bodyPr>
            <a:normAutofit/>
          </a:bodyPr>
          <a:lstStyle/>
          <a:p>
            <a:r>
              <a:rPr lang="en-US"/>
              <a:t>Capstone</a:t>
            </a:r>
            <a:br>
              <a:rPr lang="en-US" dirty="0"/>
            </a:br>
            <a:r>
              <a:rPr lang="en-US" sz="4800" dirty="0"/>
              <a:t>Intro to Research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315428"/>
            <a:ext cx="6858000" cy="588222"/>
          </a:xfrm>
        </p:spPr>
        <p:txBody>
          <a:bodyPr/>
          <a:lstStyle/>
          <a:p>
            <a:r>
              <a:rPr lang="en-US" dirty="0"/>
              <a:t>Jacquie Cheun-Jensen, PhD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E472F-D712-4041-A762-F571DCAD74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959"/>
          <a:stretch/>
        </p:blipFill>
        <p:spPr>
          <a:xfrm>
            <a:off x="2190750" y="2145002"/>
            <a:ext cx="4762500" cy="311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2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the Syllabus </a:t>
            </a:r>
          </a:p>
          <a:p>
            <a:pPr lvl="1"/>
            <a:r>
              <a:rPr lang="en-US" dirty="0"/>
              <a:t>Look at it constantly </a:t>
            </a:r>
          </a:p>
          <a:p>
            <a:r>
              <a:rPr lang="en-US" dirty="0"/>
              <a:t>Lines of Communication </a:t>
            </a:r>
          </a:p>
          <a:p>
            <a:pPr lvl="1"/>
            <a:r>
              <a:rPr lang="en-US" dirty="0"/>
              <a:t>Email: Jcheun@mail.smu.edu</a:t>
            </a:r>
          </a:p>
          <a:p>
            <a:r>
              <a:rPr lang="en-US" dirty="0"/>
              <a:t>Files/Toolbox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4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complete a Research Journal Article in 15 weeks, either solo or in a group of 2</a:t>
            </a:r>
          </a:p>
          <a:p>
            <a:endParaRPr lang="en-US" dirty="0"/>
          </a:p>
          <a:p>
            <a:r>
              <a:rPr lang="en-US" dirty="0"/>
              <a:t>Present the research at Immersion on Friday, March 20</a:t>
            </a:r>
          </a:p>
          <a:p>
            <a:endParaRPr lang="en-US" dirty="0"/>
          </a:p>
          <a:p>
            <a:r>
              <a:rPr lang="en-US" dirty="0"/>
              <a:t>Final Paper due Apr 16.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4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3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3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8327683-8978-6B4B-9130-4A6A841F0549}" type="slidenum">
              <a:rPr lang="en-US" sz="10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7C7D2-3F83-D58D-FC4F-7DD21489D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47" y="218627"/>
            <a:ext cx="7201905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1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D8F1113-2E3C-46E3-B54F-B7F421EEF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5DDECC-A11E-434E-87B2-8997CD38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47255" y="-59376"/>
            <a:ext cx="9386886" cy="6923798"/>
            <a:chOff x="-329674" y="-51881"/>
            <a:chExt cx="12515851" cy="6923798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B54A4D14-513F-4121-92D3-5CCB46896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C3411F1-AD17-499D-AFEF-2F300F6DF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60BF2CBE-B1E9-4C42-89DC-C35E4E651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72C95A87-DCDB-41C4-B774-744B3ECBE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BCB97515-32FF-43A6-A51C-B140193AB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9C6379D3-7045-4B76-9409-6D23D753D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C324CDD-B30F-47DD-8627-E2171D5E8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61B1C1DE-4201-4989-BE65-41ADC2472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0A9092BE-A36C-4833-8E71-2850F4AF7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806398CC-D327-4E06-838C-31119BD56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1E3F0C5B-76A9-4A8F-A1CB-35C0DE83A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70A741CC-E736-448A-A94E-5C8BB9711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02722D1-549B-407E-BF75-2A1E8DB5B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5CA8D742-18BD-41B5-9C00-FCFFAED25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8BF81081-4C33-488E-A37E-B95567D0B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462F0DE0-CEBA-420B-8032-FB60893B8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79C8D19E-E3D6-45A6-BCA2-5918A37D7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43280283-E04A-43CA-BFA1-F285486A2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38328CB6-0FC5-4AEA-BC7E-489267CB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844" y="4614902"/>
            <a:ext cx="6061470" cy="9439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Grade Breakdown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320040"/>
            <a:ext cx="685800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8327683-8978-6B4B-9130-4A6A841F054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5" name="Isosceles Triangle 39">
            <a:extLst>
              <a:ext uri="{FF2B5EF4-FFF2-40B4-BE49-F238E27FC236}">
                <a16:creationId xmlns:a16="http://schemas.microsoft.com/office/drawing/2014/main" id="{4F37E7FB-7372-47E3-914E-7CF7E94B1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19288" y="4386808"/>
            <a:ext cx="305424" cy="351063"/>
          </a:xfrm>
          <a:prstGeom prst="triangle">
            <a:avLst/>
          </a:prstGeom>
          <a:solidFill>
            <a:srgbClr val="FDB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E168E2-3256-43A5-9298-9E5A6AE8F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9635" y="954593"/>
            <a:ext cx="4564729" cy="3432215"/>
          </a:xfrm>
          <a:prstGeom prst="rect">
            <a:avLst/>
          </a:prstGeom>
          <a:solidFill>
            <a:schemeClr val="bg1"/>
          </a:solidFill>
          <a:ln w="19050">
            <a:solidFill>
              <a:srgbClr val="FDB13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270C35-A82C-6352-7673-5358E663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4" t="-3472" r="15257" b="3472"/>
          <a:stretch>
            <a:fillRect/>
          </a:stretch>
        </p:blipFill>
        <p:spPr>
          <a:xfrm>
            <a:off x="2388366" y="1254075"/>
            <a:ext cx="4279867" cy="256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for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SMU Library </a:t>
            </a:r>
          </a:p>
          <a:p>
            <a:r>
              <a:rPr lang="en-US" dirty="0">
                <a:hlinkClick r:id="rId2"/>
              </a:rPr>
              <a:t>Data Science Journal Articles </a:t>
            </a:r>
            <a:endParaRPr lang="en-US" dirty="0"/>
          </a:p>
          <a:p>
            <a:r>
              <a:rPr lang="en-US" dirty="0"/>
              <a:t>Graduate Writing Center </a:t>
            </a:r>
          </a:p>
          <a:p>
            <a:pPr lvl="1"/>
            <a:r>
              <a:rPr lang="en-US" dirty="0"/>
              <a:t>Must use on Draft 3 </a:t>
            </a:r>
          </a:p>
          <a:p>
            <a:r>
              <a:rPr lang="en-US" dirty="0"/>
              <a:t>Purdue OWL Citation </a:t>
            </a:r>
          </a:p>
          <a:p>
            <a:pPr lvl="1"/>
            <a:r>
              <a:rPr lang="en-US" dirty="0"/>
              <a:t>APA Citations </a:t>
            </a:r>
          </a:p>
          <a:p>
            <a:r>
              <a:rPr lang="en-US" dirty="0"/>
              <a:t>Advisor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71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1AEC-A244-4D1D-9841-91515440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DFB7-06B8-4784-A38C-41B7F1C7A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be keeping a Log/Journal of all the work you do on the capstone. </a:t>
            </a:r>
          </a:p>
          <a:p>
            <a:r>
              <a:rPr lang="en-US" dirty="0"/>
              <a:t>See Toolbox for the Excel Sheet </a:t>
            </a:r>
          </a:p>
          <a:p>
            <a:endParaRPr lang="en-US" dirty="0"/>
          </a:p>
          <a:p>
            <a:r>
              <a:rPr lang="en-US" dirty="0"/>
              <a:t>Each Group member must be contributing.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D958A-2CF2-4599-A801-FD615002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6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groups need an Advisor</a:t>
            </a:r>
            <a:endParaRPr lang="en-US" b="1" i="1" dirty="0"/>
          </a:p>
          <a:p>
            <a:r>
              <a:rPr lang="en-US" dirty="0"/>
              <a:t>Email me and include your Advisor to introduce us</a:t>
            </a:r>
          </a:p>
          <a:p>
            <a:pPr lvl="1"/>
            <a:r>
              <a:rPr lang="en-US" dirty="0"/>
              <a:t>I will be sending them information throughout the project. </a:t>
            </a:r>
          </a:p>
          <a:p>
            <a:pPr lvl="1"/>
            <a:r>
              <a:rPr lang="en-US" dirty="0"/>
              <a:t>I need their contact information </a:t>
            </a:r>
          </a:p>
          <a:p>
            <a:pPr lvl="2"/>
            <a:r>
              <a:rPr lang="en-US" dirty="0"/>
              <a:t>Name </a:t>
            </a:r>
          </a:p>
          <a:p>
            <a:pPr lvl="2"/>
            <a:r>
              <a:rPr lang="en-US" dirty="0"/>
              <a:t>Email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87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purpose of Research?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89FA61-154C-47C2-8041-869BE4908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4743"/>
          <a:stretch/>
        </p:blipFill>
        <p:spPr>
          <a:xfrm>
            <a:off x="2366171" y="1825625"/>
            <a:ext cx="4411658" cy="432939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2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8FC13-A6BC-461D-A490-3049794F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 descr="storytelling meme">
            <a:extLst>
              <a:ext uri="{FF2B5EF4-FFF2-40B4-BE49-F238E27FC236}">
                <a16:creationId xmlns:a16="http://schemas.microsoft.com/office/drawing/2014/main" id="{131AC1F7-6FC8-4177-841C-F20F6EF66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22" y="737119"/>
            <a:ext cx="7571562" cy="503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01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A5B1-C3B2-4D9E-858C-0FE238DC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Research paper is a BIG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3986-1E1A-40C9-9D5F-3EB97945B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pPr lvl="1"/>
            <a:r>
              <a:rPr lang="en-US" dirty="0"/>
              <a:t>Problem Statement </a:t>
            </a:r>
          </a:p>
          <a:p>
            <a:r>
              <a:rPr lang="en-US" dirty="0"/>
              <a:t>Literature Review/Background</a:t>
            </a:r>
          </a:p>
          <a:p>
            <a:pPr lvl="1"/>
            <a:r>
              <a:rPr lang="en-US"/>
              <a:t>Hypothesis </a:t>
            </a:r>
            <a:endParaRPr lang="en-US" dirty="0"/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Data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Discussion – Application of the Results</a:t>
            </a:r>
          </a:p>
          <a:p>
            <a:pPr lvl="1"/>
            <a:r>
              <a:rPr lang="en-US" dirty="0"/>
              <a:t>Ethics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FEC34-480A-411C-95B4-0E64D706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7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FE1F-9053-4587-BD43-8E3EF6D3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DB0E7-6F36-4C70-BE5F-76AE4D151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Jan 12</a:t>
            </a:r>
          </a:p>
          <a:p>
            <a:r>
              <a:rPr lang="en-US" dirty="0"/>
              <a:t>See Example in Files </a:t>
            </a:r>
          </a:p>
          <a:p>
            <a:r>
              <a:rPr lang="en-US" dirty="0"/>
              <a:t>Must use the Outline Template. </a:t>
            </a:r>
          </a:p>
          <a:p>
            <a:r>
              <a:rPr lang="en-US" dirty="0"/>
              <a:t>I. Introduction </a:t>
            </a:r>
          </a:p>
          <a:p>
            <a:pPr lvl="1"/>
            <a:r>
              <a:rPr lang="en-US" dirty="0"/>
              <a:t>A. Main Topic </a:t>
            </a:r>
          </a:p>
          <a:p>
            <a:pPr lvl="2"/>
            <a:r>
              <a:rPr lang="en-US" dirty="0"/>
              <a:t>1.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78B0-DFB4-4515-9E4C-C73A0A4D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7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329B-C373-4595-64ED-3A0B63B3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IRB Approval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0ABAF-AAE9-520B-6435-E637F2863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CAPSTONE will be using human subjects to test their product 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27B83-090E-46EC-D153-DABDC022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5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9972-8229-4D8A-B4E0-06DAC1C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an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4C8A-EE73-41BD-A817-56E5B4A81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the problem or issue </a:t>
            </a:r>
          </a:p>
          <a:p>
            <a:r>
              <a:rPr lang="en-US" dirty="0"/>
              <a:t>Provide an overview of existing thinking about your research problem </a:t>
            </a:r>
          </a:p>
          <a:p>
            <a:r>
              <a:rPr lang="en-US" dirty="0"/>
              <a:t>Identify gaps</a:t>
            </a:r>
          </a:p>
          <a:p>
            <a:r>
              <a:rPr lang="en-US" dirty="0"/>
              <a:t>Relevance- Why should we care about your research?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7354-4050-4936-908B-9E1EC1AC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0"/>
            <a:ext cx="8149590" cy="1325563"/>
          </a:xfrm>
        </p:spPr>
        <p:txBody>
          <a:bodyPr/>
          <a:lstStyle/>
          <a:p>
            <a:r>
              <a:rPr lang="en-US" dirty="0"/>
              <a:t>The Research Proposal – Draft 0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25563"/>
            <a:ext cx="7886700" cy="4537501"/>
          </a:xfrm>
        </p:spPr>
        <p:txBody>
          <a:bodyPr>
            <a:normAutofit fontScale="92500" lnSpcReduction="20000"/>
          </a:bodyPr>
          <a:lstStyle/>
          <a:p>
            <a:pPr marL="274638" lvl="1" indent="0" fontAlgn="auto">
              <a:spcAft>
                <a:spcPts val="0"/>
              </a:spcAft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least 5 pages in length </a:t>
            </a:r>
          </a:p>
          <a:p>
            <a:pPr marL="731838" lvl="1" indent="-457200" fontAlgn="auto">
              <a:spcAft>
                <a:spcPts val="0"/>
              </a:spcAft>
              <a:buFont typeface="Arial" charset="0"/>
              <a:buAutoNum type="arabicPeriod"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31838" lvl="1" indent="-45720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Draft of Abstract </a:t>
            </a:r>
          </a:p>
          <a:p>
            <a:pPr marL="731838" lvl="1" indent="-45720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731838" lvl="2" indent="0"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or Objective</a:t>
            </a:r>
          </a:p>
          <a:p>
            <a:pPr marL="731838" lvl="1" indent="-45720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 marL="731838" lvl="2" indent="0"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 different peer-reviewed research studies </a:t>
            </a:r>
          </a:p>
          <a:p>
            <a:pPr marL="731838" lvl="1" indent="-45720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marL="731838" lvl="2" indent="0"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data are you using?</a:t>
            </a:r>
          </a:p>
          <a:p>
            <a:pPr marL="731838" lvl="1" indent="-45720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31838" lvl="2" indent="0"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Methods do you hope to use </a:t>
            </a:r>
          </a:p>
          <a:p>
            <a:pPr marL="274638" lvl="1" indent="0" fontAlgn="auto">
              <a:spcAft>
                <a:spcPts val="0"/>
              </a:spcAft>
              <a:buNone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638" lvl="1" indent="0" fontAlgn="auto">
              <a:spcAft>
                <a:spcPts val="0"/>
              </a:spcAft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Citations are in APA format – DUE Feb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2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Live Session</a:t>
            </a:r>
            <a:br>
              <a:rPr lang="en-US" dirty="0"/>
            </a:br>
            <a:r>
              <a:rPr lang="en-US" dirty="0"/>
              <a:t>Brainstorming Topics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30243"/>
            <a:ext cx="7886700" cy="3946719"/>
          </a:xfrm>
        </p:spPr>
        <p:txBody>
          <a:bodyPr>
            <a:normAutofit/>
          </a:bodyPr>
          <a:lstStyle/>
          <a:p>
            <a:pPr indent="0" algn="l">
              <a:buNone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1)      Log in to the 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  <a:hlinkClick r:id="rId2"/>
              </a:rPr>
              <a:t>Mentor IRB Management System</a:t>
            </a:r>
            <a:endParaRPr lang="en-US" b="0" i="0" dirty="0">
              <a:solidFill>
                <a:srgbClr val="212121"/>
              </a:solidFill>
              <a:effectLst/>
              <a:latin typeface="wf_segoe-ui_normal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2)      Go to the IRB tab</a:t>
            </a:r>
            <a:endParaRPr lang="en-US" b="0" i="0" dirty="0">
              <a:solidFill>
                <a:srgbClr val="212121"/>
              </a:solidFill>
              <a:effectLst/>
              <a:latin typeface="wf_segoe-ui_normal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3)      Select the “My Protocols” menu option</a:t>
            </a:r>
            <a:endParaRPr lang="en-US" b="0" i="0" dirty="0">
              <a:solidFill>
                <a:srgbClr val="212121"/>
              </a:solidFill>
              <a:effectLst/>
              <a:latin typeface="wf_segoe-ui_normal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4)      Click the “Create New Protocol” button</a:t>
            </a:r>
            <a:endParaRPr lang="en-US" b="0" i="0" dirty="0">
              <a:solidFill>
                <a:srgbClr val="212121"/>
              </a:solidFill>
              <a:effectLst/>
              <a:latin typeface="wf_segoe-ui_normal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5)      Click the “Use Pre-Protocol Survey 2019” link</a:t>
            </a:r>
            <a:endParaRPr lang="en-US" b="0" i="0" dirty="0">
              <a:solidFill>
                <a:srgbClr val="212121"/>
              </a:solidFill>
              <a:effectLst/>
              <a:latin typeface="wf_segoe-ui_normal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6)      Answer the questions</a:t>
            </a:r>
            <a:endParaRPr lang="en-US" b="0" i="0" dirty="0">
              <a:solidFill>
                <a:srgbClr val="212121"/>
              </a:solidFill>
              <a:effectLst/>
              <a:latin typeface="wf_segoe-ui_norm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6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Purposes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Exploration</a:t>
            </a:r>
          </a:p>
          <a:p>
            <a:pPr marL="514350" indent="-514350">
              <a:buAutoNum type="arabicPeriod"/>
            </a:pPr>
            <a:r>
              <a:rPr lang="en-US" dirty="0"/>
              <a:t>Description</a:t>
            </a:r>
          </a:p>
          <a:p>
            <a:pPr marL="514350" indent="-514350">
              <a:buAutoNum type="arabicPeriod"/>
            </a:pPr>
            <a:r>
              <a:rPr lang="en-US" dirty="0"/>
              <a:t>Explanation 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16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Steps in the Research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BFC949-32CF-49B4-905B-676D0B5D9C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843" r="-2062" b="14148"/>
          <a:stretch/>
        </p:blipFill>
        <p:spPr>
          <a:xfrm>
            <a:off x="1957088" y="1787857"/>
            <a:ext cx="4771257" cy="384866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327683-8978-6B4B-9130-4A6A841F0549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7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325563"/>
          </a:xfrm>
        </p:spPr>
        <p:txBody>
          <a:bodyPr/>
          <a:lstStyle/>
          <a:p>
            <a:r>
              <a:rPr lang="en-US" dirty="0"/>
              <a:t>How to Design a Research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6788"/>
            <a:ext cx="7886700" cy="4580175"/>
          </a:xfrm>
        </p:spPr>
        <p:txBody>
          <a:bodyPr>
            <a:normAutofit fontScale="85000" lnSpcReduction="20000"/>
          </a:bodyPr>
          <a:lstStyle/>
          <a:p>
            <a:pPr marL="514350" indent="-51435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Define the purpose of your project – exploratory, descriptive, or explanatory?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Specify the meanings of each concept you want to study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a research method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 startAt="5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how you will measure the results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 startAt="5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whom or what to study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 startAt="5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Collect empirical data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 startAt="5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the data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 startAt="5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Analyze the data</a:t>
            </a:r>
          </a:p>
          <a:p>
            <a:pPr marL="514350" indent="-514350" fontAlgn="auto">
              <a:spcAft>
                <a:spcPts val="0"/>
              </a:spcAft>
              <a:buFont typeface="Arial" charset="0"/>
              <a:buAutoNum type="arabicPeriod" startAt="5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Report your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42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Non-Scientific Production of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Experience and Common Sense</a:t>
            </a:r>
          </a:p>
          <a:p>
            <a:pPr marL="914400" lvl="1" indent="-457200">
              <a:lnSpc>
                <a:spcPct val="80000"/>
              </a:lnSpc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Overgeneralization </a:t>
            </a:r>
          </a:p>
          <a:p>
            <a:pPr marL="1314450" lvl="2" indent="-457200">
              <a:lnSpc>
                <a:spcPct val="80000"/>
              </a:lnSpc>
            </a:pPr>
            <a:r>
              <a:rPr lang="en-US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that goes beyond what can be justified based on the data…….. “All teens are bad drivers”</a:t>
            </a:r>
          </a:p>
          <a:p>
            <a:pPr marL="914400" lvl="1" indent="-457200">
              <a:lnSpc>
                <a:spcPct val="80000"/>
              </a:lnSpc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Observation</a:t>
            </a:r>
          </a:p>
          <a:p>
            <a:pPr marL="1314450" lvl="2" indent="-457200">
              <a:lnSpc>
                <a:spcPct val="80000"/>
              </a:lnSpc>
            </a:pPr>
            <a:r>
              <a:rPr lang="en-US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or examination in a way that reinforces preexisting thinking……. “Guns are bad” </a:t>
            </a:r>
          </a:p>
          <a:p>
            <a:pPr marL="914400" lvl="1" indent="-457200">
              <a:lnSpc>
                <a:spcPct val="80000"/>
              </a:lnSpc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Premature Closure</a:t>
            </a:r>
          </a:p>
          <a:p>
            <a:pPr marL="1314450" lvl="2" indent="-457200">
              <a:lnSpc>
                <a:spcPct val="80000"/>
              </a:lnSpc>
            </a:pPr>
            <a:r>
              <a:rPr lang="en-US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a judgment or reaching a decision and ending an investigation before amount/depth of evidence required…….When do we have enough evidence?</a:t>
            </a:r>
          </a:p>
          <a:p>
            <a:pPr marL="914400" lvl="1" indent="-457200">
              <a:lnSpc>
                <a:spcPct val="80000"/>
              </a:lnSpc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Halo Effect</a:t>
            </a:r>
          </a:p>
          <a:p>
            <a:pPr marL="1314450" lvl="2" indent="-457200">
              <a:lnSpc>
                <a:spcPct val="80000"/>
              </a:lnSpc>
            </a:pPr>
            <a:r>
              <a:rPr lang="en-US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reputation of persons, places, or things to color one’s evaluation rather than being neutral or in a equal manner…….In a report from UTD….or The president stated….or My professor stated…..</a:t>
            </a:r>
          </a:p>
          <a:p>
            <a:pPr marL="914400" lvl="1" indent="-457200">
              <a:lnSpc>
                <a:spcPct val="80000"/>
              </a:lnSpc>
              <a:buFont typeface="Arial" panose="020B0604020202020204" pitchFamily="34" charset="0"/>
              <a:buAutoNum type="arabicParenR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Consensus</a:t>
            </a:r>
          </a:p>
          <a:p>
            <a:pPr marL="1314450" lvl="2" indent="-457200">
              <a:lnSpc>
                <a:spcPct val="80000"/>
              </a:lnSpc>
            </a:pPr>
            <a:r>
              <a:rPr lang="en-US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one’s way of thinking onto other people.  The person assumes that everyone else thinks like they do…..As we all know…….or Everyone believes….or No one supports……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0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Non-Scientific Production of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Experts and Authority</a:t>
            </a:r>
          </a:p>
          <a:p>
            <a:pPr lvl="1"/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 in power says so..</a:t>
            </a: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and Media messages</a:t>
            </a:r>
          </a:p>
          <a:p>
            <a:pPr lvl="1"/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into a distorted reality</a:t>
            </a:r>
          </a:p>
          <a:p>
            <a:pPr lvl="1"/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Rage</a:t>
            </a:r>
          </a:p>
          <a:p>
            <a:pPr lvl="1"/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Holiday Havoc</a:t>
            </a:r>
          </a:p>
          <a:p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Ideological beliefs and values</a:t>
            </a:r>
          </a:p>
          <a:p>
            <a:pPr lvl="1"/>
            <a:r>
              <a:rPr lang="ja-JP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ja-JP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the way things have always been</a:t>
            </a:r>
            <a:r>
              <a:rPr lang="ja-JP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ja-JP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for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</a:rPr>
              <a:t>Variables must be Correlated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Correlation – an empirical relationship between two variables such that changes in one are associated with changes in the other, or particular attributes in one are associated with particular attributes in the other.</a:t>
            </a:r>
          </a:p>
          <a:p>
            <a:pPr>
              <a:buFontTx/>
              <a:buAutoNum type="arabicPeriod" startAt="2"/>
            </a:pPr>
            <a:r>
              <a:rPr lang="en-US" altLang="en-US" sz="2000" dirty="0">
                <a:solidFill>
                  <a:srgbClr val="000000"/>
                </a:solidFill>
              </a:rPr>
              <a:t>Temporal Order 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The cause takes place before the effect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X before Y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IV before DV</a:t>
            </a:r>
          </a:p>
          <a:p>
            <a:pPr>
              <a:buFontTx/>
              <a:buAutoNum type="arabicPeriod" startAt="3"/>
            </a:pPr>
            <a:r>
              <a:rPr lang="en-US" altLang="en-US" sz="2000" dirty="0">
                <a:solidFill>
                  <a:srgbClr val="000000"/>
                </a:solidFill>
              </a:rPr>
              <a:t>Nonspurious 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Spurious Relationship – a coincidental statistical correlation between two variables shown to be caused by some third variable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27683-8978-6B4B-9130-4A6A841F054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2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799</Words>
  <Application>Microsoft Office PowerPoint</Application>
  <PresentationFormat>On-screen Show (4:3)</PresentationFormat>
  <Paragraphs>160</Paragraphs>
  <Slides>22</Slides>
  <Notes>4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wf_segoe-ui_normal</vt:lpstr>
      <vt:lpstr>Office Theme</vt:lpstr>
      <vt:lpstr>Capstone Intro to Research </vt:lpstr>
      <vt:lpstr>Housekeeping</vt:lpstr>
      <vt:lpstr>Goal </vt:lpstr>
      <vt:lpstr>PowerPoint Presentation</vt:lpstr>
      <vt:lpstr>Grade Breakdown </vt:lpstr>
      <vt:lpstr>Resources for Research</vt:lpstr>
      <vt:lpstr>Project Manager</vt:lpstr>
      <vt:lpstr>Advisor</vt:lpstr>
      <vt:lpstr>What is the purpose of Research?</vt:lpstr>
      <vt:lpstr>PowerPoint Presentation</vt:lpstr>
      <vt:lpstr>Your Research paper is a BIG story</vt:lpstr>
      <vt:lpstr>Research Outline</vt:lpstr>
      <vt:lpstr>IRB Approval </vt:lpstr>
      <vt:lpstr>Components of an Introduction</vt:lpstr>
      <vt:lpstr>The Research Proposal – Draft 0 </vt:lpstr>
      <vt:lpstr>Next Live Session Brainstorming Topics </vt:lpstr>
      <vt:lpstr>3 Purposes of Research</vt:lpstr>
      <vt:lpstr>Steps in the Research Process</vt:lpstr>
      <vt:lpstr>How to Design a Research Project</vt:lpstr>
      <vt:lpstr>Non-Scientific Production of Knowledge</vt:lpstr>
      <vt:lpstr>Non-Scientific Production of Knowledge</vt:lpstr>
      <vt:lpstr>Criteria for Causality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A Intro to Research</dc:title>
  <dc:creator>Jacquie Cheun</dc:creator>
  <cp:lastModifiedBy>Jacquie Cheun-Jensen</cp:lastModifiedBy>
  <cp:revision>7</cp:revision>
  <cp:lastPrinted>2025-08-25T23:18:05Z</cp:lastPrinted>
  <dcterms:created xsi:type="dcterms:W3CDTF">2020-05-04T16:18:04Z</dcterms:created>
  <dcterms:modified xsi:type="dcterms:W3CDTF">2026-01-05T23:35:28Z</dcterms:modified>
</cp:coreProperties>
</file>